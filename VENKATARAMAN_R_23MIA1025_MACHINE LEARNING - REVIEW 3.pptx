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31"/>
  </p:notesMasterIdLst>
  <p:handoutMasterIdLst>
    <p:handoutMasterId r:id="rId32"/>
  </p:handoutMasterIdLst>
  <p:sldIdLst>
    <p:sldId id="278" r:id="rId5"/>
    <p:sldId id="284" r:id="rId6"/>
    <p:sldId id="314" r:id="rId7"/>
    <p:sldId id="315" r:id="rId8"/>
    <p:sldId id="316" r:id="rId9"/>
    <p:sldId id="317" r:id="rId10"/>
    <p:sldId id="318" r:id="rId11"/>
    <p:sldId id="319" r:id="rId12"/>
    <p:sldId id="321" r:id="rId13"/>
    <p:sldId id="337" r:id="rId14"/>
    <p:sldId id="306" r:id="rId15"/>
    <p:sldId id="310" r:id="rId16"/>
    <p:sldId id="324" r:id="rId17"/>
    <p:sldId id="325" r:id="rId18"/>
    <p:sldId id="326" r:id="rId19"/>
    <p:sldId id="327" r:id="rId20"/>
    <p:sldId id="328" r:id="rId21"/>
    <p:sldId id="331" r:id="rId22"/>
    <p:sldId id="329" r:id="rId23"/>
    <p:sldId id="332" r:id="rId24"/>
    <p:sldId id="333" r:id="rId25"/>
    <p:sldId id="322" r:id="rId26"/>
    <p:sldId id="335" r:id="rId27"/>
    <p:sldId id="336" r:id="rId28"/>
    <p:sldId id="334" r:id="rId29"/>
    <p:sldId id="29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dhyalakshmi J" initials="VJ" lastIdx="1" clrIdx="0">
    <p:extLst>
      <p:ext uri="{19B8F6BF-5375-455C-9EA6-DF929625EA0E}">
        <p15:presenceInfo xmlns:p15="http://schemas.microsoft.com/office/powerpoint/2012/main" userId="418ab35a0b45d02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57" autoAdjust="0"/>
    <p:restoredTop sz="95388" autoAdjust="0"/>
  </p:normalViewPr>
  <p:slideViewPr>
    <p:cSldViewPr snapToGrid="0">
      <p:cViewPr varScale="1">
        <p:scale>
          <a:sx n="90" d="100"/>
          <a:sy n="90" d="100"/>
        </p:scale>
        <p:origin x="77" y="67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31955-5249-892D-E6A4-F0CE580C3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E310D-7874-41AF-BC3D-3B7AE6BEA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4A65F-0A12-A574-D52C-285F36C6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D94EE-B17B-560B-933D-D2A83C557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507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70D03-218F-FBAC-DC8B-9DF544899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CC04B-07F4-D6AB-965C-238A538AD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6DA98-79D5-48E6-41C0-6B3F6F263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EA5A1-1A9B-E761-1E0C-FC3C7760E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80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E71B7-4A9A-5AD9-5FFD-1DD88DFBD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CC92C-E6BE-0C1E-334D-D6E81DE08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4664C-DA43-AFE5-1CD0-223F5C381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81017-1782-2DDA-43A6-41C5A90F1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626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56793-C7C8-5EA6-A3D0-EEDD0BF67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F97905-C350-ACDA-7155-8D1E76C7F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78B4BE-B326-8475-6713-0953BB32B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4DCA5-856F-C5C6-F0DD-2731D52ED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941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0C84F-9F08-5096-0EE3-E74EACC53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BE7EC3-C358-4CEE-AA9F-BC88E342D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4DDB5-D62C-3E00-25DB-14671DA74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646C8-C6E7-F76D-8FDB-212C250E7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505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B5253-2B1A-91BC-094F-6F6BCB94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A3A2D-89FE-FDF2-C648-7B0489273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A485D-BA03-C432-E95D-4DAE2A1A4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2E4D0-A180-23F3-6069-F1EFF84ED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5762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3FF5C-F9B0-A573-38F3-F2D48ADFC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4622B7-DA00-198E-EA8B-183723680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1C5D5-C80C-7313-E811-0A0BA1FEF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7B509-8644-53B6-463D-904482E1A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2544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6AE0F-9D5D-C3B0-1247-EB766216B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637E2F-7D3A-F917-034F-A155C30FD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157C04-CC91-519C-78CC-B63DF8C8B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E50FB-8DFF-4E5B-C930-A8B26B76A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684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22B02-6598-FDFF-339F-DC094FD4C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ECCB91-6C4C-4AD6-E14C-0FB2652E3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32537-23F6-F7C0-6C03-85AE8E4BD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11C63-15A3-BF36-8B4A-A28FF5F0E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3249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3789F-CF7E-0ACC-DEEA-A4565AB05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390F1-8F00-9E73-979D-86C421E96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62E32-C778-1CF4-5AF6-6219866F6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F645A-D57B-45AA-3246-FF952C3424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079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AE684-AF14-CB64-5FB9-3E67ABAC9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CF4FC6-FD82-7D05-6C3A-1F8A1FC43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C2BAA-3088-58E1-F042-20C79C093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5FCC5-C6E1-1326-6DB1-19FF8C943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2187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2ED19-B72B-3AC6-F74A-59DA9EF86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7835C-C7EB-B69E-9604-D9D8C7BA9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744BB-743B-1C68-90A9-A7E0871CB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6E5FE-216D-C71A-30BF-2724F102C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4377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25C0A-E41C-E5AE-F145-1369B1B31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C6EA6-681B-0825-B117-E65385DD6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B3FE07-F461-EF43-0795-5B8FF7E78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46DE3-5AB6-7623-2F63-202391474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444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29F0E-5214-F765-31D8-2827EFD70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BFE87-D405-A549-F5EE-A6CE8834A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A84F8-CCF9-F4FA-05F9-6278977C3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41DB2-0B98-667D-ECC6-8CE73D4EE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3868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483D6-D571-0E34-8C65-CE279CE7D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99D80-BA2C-D8ED-E01A-0C5CCC376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ACE7B-D220-C437-D286-5263D170F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C4AF7-2D43-5BD8-92AE-B9574113C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0987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1AE90-16C4-A177-802E-481AE4FEE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CB912-7073-2384-0907-0682DDE2C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A5B3D-0214-DADB-1394-5F8762A0A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F81B7-5229-2D40-E72C-63837E210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0605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2430C-7FBE-0A85-C267-008628977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71B48-D379-4792-4639-48DBE64CC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D03DF8-280A-59AC-9CC4-4AC2FBDA5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DA701-BCE7-210D-E65D-F88FCFEE8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4338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E89A6-4F4A-E47B-7EE3-61B46011F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F583B2-EC7C-E778-5922-6ECCBBCF4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AE7D7D-100B-368E-E310-9E1E381B8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0FAAD-F042-7EC2-0283-A9C009BF56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570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4F0B1-FC7A-F47D-6910-0C73A8CFE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A6406-671D-F14D-9048-4489EBEA0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3AA7FC-7E08-9305-41A5-678023DA1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F8ED5-C53B-C5E8-CF90-79F799662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8668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DF06C-E9E4-FE77-27A8-728D8CBD1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F63624-4E73-B2CC-559F-21E3DC547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5DBAF-BC40-F9F4-31E4-19CC07859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BD7C6-E799-78F3-F30F-F25426085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4322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21FC7-D9EC-DE3B-9235-2F0FB2823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336E8-BD6E-510B-ECDB-94121E867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E713B-5FDA-C0CA-D6F0-414371A14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71B70-3FC9-12CE-A734-E234A0FCA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2137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4B8D3-D155-1A59-C2BD-3204BFD50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793F4-3C17-3C95-B9A5-FC109F53F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9FD92-8B70-6C73-1CE2-D4BFBAEC0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AC869-23B0-6D47-7A98-97EF58EE7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239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B27B1-E858-1108-1818-48BBA6B0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608CCA-EAEE-9606-8514-E23E0257E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15FB82-C557-4805-8674-6FCD7F6C4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D85BF-F41C-771D-6EDD-DE3775197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84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541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86218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331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73780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5163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2786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7346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5793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943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6055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5986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52056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728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3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55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22" r:id="rId13"/>
    <p:sldLayoutId id="214748372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ctr"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2000" dirty="0"/>
            </a:br>
            <a:br>
              <a:rPr lang="en-US" sz="2000"/>
            </a:br>
            <a:r>
              <a:rPr lang="en-US" sz="2400">
                <a:latin typeface="+mn-lt"/>
              </a:rPr>
              <a:t>HYBRID NEURO - SYMBOLIC MOVIE RECOMMENDATION SYSTEM</a:t>
            </a:r>
            <a:br>
              <a:rPr lang="en-US" dirty="0">
                <a:latin typeface="+mn-lt"/>
              </a:rPr>
            </a:br>
            <a:br>
              <a:rPr lang="en-US" dirty="0">
                <a:latin typeface="+mn-lt"/>
              </a:rPr>
            </a:br>
            <a:r>
              <a:rPr lang="en-US" sz="1800" dirty="0">
                <a:latin typeface="+mn-lt"/>
              </a:rPr>
              <a:t>VENKATARAMAN R  23MIA1025</a:t>
            </a: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SRISHREYAN S          23MIA1088</a:t>
            </a:r>
            <a:br>
              <a:rPr lang="en-US" dirty="0"/>
            </a:br>
            <a:endParaRPr lang="en-US" dirty="0"/>
          </a:p>
        </p:txBody>
      </p:sp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/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75483E-77E4-A1B1-A3A3-2FDCF5194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INTRODUCTION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744DD-5BC8-42C8-4313-13CE95ED5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Recommender systems help users find movies that match their interests.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Collaborative Filtering predicts user preferences based on similar users’ ratings.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Content-Based Filtering recommends movies using features like genres and titles.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Each method alone has limitations such as cold-start and limited personalization.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Hybrid Recommendation Systems combine both approaches to improve accuracy.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Our model uses Matrix Factorization + TF-IDF similarity to generate personalized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2A7E2-1028-8929-FCCD-D6ADA4B0D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B488-E5C0-1951-940D-BF641C09F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DATASET DESCRIPTION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2FB78-F42E-6595-22C7-2C3835919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MovieLens 1M Dataset used.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Tables: movies.csv, ratings.csv, users.csv.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Movies include Title and Genres.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Ratings contain </a:t>
            </a:r>
            <a:r>
              <a:rPr lang="en-US" sz="24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UserID</a:t>
            </a: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MovieID</a:t>
            </a: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, Rating, Timestamp.</a:t>
            </a:r>
          </a:p>
          <a:p>
            <a:pPr marL="0" indent="0" algn="just">
              <a:buNone/>
            </a:pPr>
            <a:endParaRPr lang="en-US" sz="24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686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28DA4-9492-41CE-F50F-8B120829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584FA-7602-F551-0716-824F0B0B4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SYSTEM ARCHITECTURE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1D475-3478-315B-8AEC-E1AAB6AAE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Input Data → Preprocessing → Feature Extraction → Hybrid Model → Top-N Recommendations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Collaborative Filtering: Learns hidden user-item patterns.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Content-based Filtering: Uses movie metadata to measure similarity.</a:t>
            </a:r>
          </a:p>
        </p:txBody>
      </p:sp>
    </p:spTree>
    <p:extLst>
      <p:ext uri="{BB962C8B-B14F-4D97-AF65-F5344CB8AC3E}">
        <p14:creationId xmlns:p14="http://schemas.microsoft.com/office/powerpoint/2010/main" val="3601289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33EEC-1C1F-738C-504C-CC186B7A3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B0A5-5825-4C3B-9EC4-01D5558C6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COLLABORATIVE FILTERING (MATRIX FACTORIZATION)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2A7E-0D77-6A4F-EA57-3A192FD9F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Each user and movie are represented as latent vectors.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Predicted Rating = </a:t>
            </a:r>
            <a:r>
              <a:rPr lang="el-GR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μ + </a:t>
            </a:r>
            <a:r>
              <a:rPr lang="en-US" sz="3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b_u</a:t>
            </a: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+ </a:t>
            </a:r>
            <a:r>
              <a:rPr lang="en-US" sz="3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b_i</a:t>
            </a: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+ (</a:t>
            </a:r>
            <a:r>
              <a:rPr lang="en-US" sz="3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P_u</a:t>
            </a: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· </a:t>
            </a:r>
            <a:r>
              <a:rPr lang="en-US" sz="3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Q_i</a:t>
            </a: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)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Where:</a:t>
            </a:r>
          </a:p>
          <a:p>
            <a:pPr marL="0" indent="0">
              <a:buNone/>
            </a:pPr>
            <a:r>
              <a:rPr lang="el-GR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μ = </a:t>
            </a: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global rating average</a:t>
            </a:r>
          </a:p>
          <a:p>
            <a:pPr marL="0" indent="0">
              <a:buNone/>
            </a:pPr>
            <a:r>
              <a:rPr lang="en-US" sz="3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b_u</a:t>
            </a: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= user bias, </a:t>
            </a:r>
            <a:r>
              <a:rPr lang="en-US" sz="3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b_i</a:t>
            </a: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= item bias</a:t>
            </a:r>
          </a:p>
          <a:p>
            <a:pPr marL="0" indent="0">
              <a:buNone/>
            </a:pPr>
            <a:r>
              <a:rPr lang="en-US" sz="3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P_u</a:t>
            </a: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, </a:t>
            </a:r>
            <a:r>
              <a:rPr lang="en-US" sz="3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Q_i</a:t>
            </a: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= learned latent factors.</a:t>
            </a:r>
          </a:p>
        </p:txBody>
      </p:sp>
    </p:spTree>
    <p:extLst>
      <p:ext uri="{BB962C8B-B14F-4D97-AF65-F5344CB8AC3E}">
        <p14:creationId xmlns:p14="http://schemas.microsoft.com/office/powerpoint/2010/main" val="1752269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5236A-DB2E-0083-F23C-4693A31C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25729-D1E4-94A2-26E7-04C1963CE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CONTENT-BASED SIMILARITY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B18CF-8D22-E81C-9AD5-FF1BA125A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 text processed: Title + Genres.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Converted to TF-IDF vectors.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Cosine Similarity used to measure closeness between movies.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Higher similarity → Stronger recommendation influence.</a:t>
            </a:r>
          </a:p>
        </p:txBody>
      </p:sp>
    </p:spTree>
    <p:extLst>
      <p:ext uri="{BB962C8B-B14F-4D97-AF65-F5344CB8AC3E}">
        <p14:creationId xmlns:p14="http://schemas.microsoft.com/office/powerpoint/2010/main" val="3578963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08410-6CFD-3E6C-F52B-CA3A4A01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0FC83-9EC3-4AA4-01C0-5D9C37956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HYBRID RECOMMENDATION ALGORITHM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31140-F8E9-14D2-4342-B23AAAD04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Step 1: </a:t>
            </a: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Generate MF predicted rating for user and movie.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Step 2: </a:t>
            </a: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Compute content similarity score based on user liked movies.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Step 3: </a:t>
            </a: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Combine scores: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Hybrid Score = </a:t>
            </a:r>
            <a:r>
              <a:rPr lang="el-GR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α * </a:t>
            </a:r>
            <a:r>
              <a:rPr lang="en-US" sz="3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MF_Pred</a:t>
            </a: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+ (1 - </a:t>
            </a:r>
            <a:r>
              <a:rPr lang="el-GR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α) * </a:t>
            </a:r>
            <a:r>
              <a:rPr lang="en-US" sz="3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Content_Sim</a:t>
            </a:r>
            <a:endParaRPr lang="en-US" sz="32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>
              <a:buNone/>
            </a:pPr>
            <a:r>
              <a:rPr lang="el-GR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α </a:t>
            </a: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controls balance (typically 0.7).</a:t>
            </a:r>
          </a:p>
        </p:txBody>
      </p:sp>
    </p:spTree>
    <p:extLst>
      <p:ext uri="{BB962C8B-B14F-4D97-AF65-F5344CB8AC3E}">
        <p14:creationId xmlns:p14="http://schemas.microsoft.com/office/powerpoint/2010/main" val="2462825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E98F1-6048-460E-22F9-6A25B8503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0DF07-B99F-1202-15C2-2C074E05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MODEL OUTPUT EXAMPLE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65628-2289-4987-9A04-66E397915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Top Recommended Movies for a Sample User: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The Wrong Trousers (1993) - Hybrid Score: 4.06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A Close Shave (1995) - Hybrid Score: 4.05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Grand Day Out (1992) - Hybrid Score: 3.99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Shows strong personalization based on viewing history.</a:t>
            </a:r>
          </a:p>
        </p:txBody>
      </p:sp>
    </p:spTree>
    <p:extLst>
      <p:ext uri="{BB962C8B-B14F-4D97-AF65-F5344CB8AC3E}">
        <p14:creationId xmlns:p14="http://schemas.microsoft.com/office/powerpoint/2010/main" val="324536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1AF73-770D-62D1-B19B-B6134F6C0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35ECD-D418-516F-2D9E-5DB18B269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COMPARISON WITH IEEE PAPERS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00EF9-9D2E-A79B-5B14-96B7AC3E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Paper 1: Neural CF + Sentiment → Strong emotional context understanding.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Paper 2: ML Sentiment + Similarity → Simple but limited personalization.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Our Model: Balanced Hybrid + Extendable to Graph/VAE for future enhancement.</a:t>
            </a:r>
          </a:p>
        </p:txBody>
      </p:sp>
    </p:spTree>
    <p:extLst>
      <p:ext uri="{BB962C8B-B14F-4D97-AF65-F5344CB8AC3E}">
        <p14:creationId xmlns:p14="http://schemas.microsoft.com/office/powerpoint/2010/main" val="2421929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0044-8384-E4AF-5C32-8919620B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02A4A-B665-A366-621B-994D0CE6E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ACCURACY COMPARISON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89C3AA2-0277-2405-814E-9269247C02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4763507"/>
              </p:ext>
            </p:extLst>
          </p:nvPr>
        </p:nvGraphicFramePr>
        <p:xfrm>
          <a:off x="550862" y="1464734"/>
          <a:ext cx="10320336" cy="503766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446338">
                  <a:extLst>
                    <a:ext uri="{9D8B030D-6E8A-4147-A177-3AD203B41FA5}">
                      <a16:colId xmlns:a16="http://schemas.microsoft.com/office/drawing/2014/main" val="3421441332"/>
                    </a:ext>
                  </a:extLst>
                </a:gridCol>
                <a:gridCol w="1964267">
                  <a:extLst>
                    <a:ext uri="{9D8B030D-6E8A-4147-A177-3AD203B41FA5}">
                      <a16:colId xmlns:a16="http://schemas.microsoft.com/office/drawing/2014/main" val="196417464"/>
                    </a:ext>
                  </a:extLst>
                </a:gridCol>
                <a:gridCol w="749563">
                  <a:extLst>
                    <a:ext uri="{9D8B030D-6E8A-4147-A177-3AD203B41FA5}">
                      <a16:colId xmlns:a16="http://schemas.microsoft.com/office/drawing/2014/main" val="2942615849"/>
                    </a:ext>
                  </a:extLst>
                </a:gridCol>
                <a:gridCol w="774437">
                  <a:extLst>
                    <a:ext uri="{9D8B030D-6E8A-4147-A177-3AD203B41FA5}">
                      <a16:colId xmlns:a16="http://schemas.microsoft.com/office/drawing/2014/main" val="1246127553"/>
                    </a:ext>
                  </a:extLst>
                </a:gridCol>
                <a:gridCol w="1439333">
                  <a:extLst>
                    <a:ext uri="{9D8B030D-6E8A-4147-A177-3AD203B41FA5}">
                      <a16:colId xmlns:a16="http://schemas.microsoft.com/office/drawing/2014/main" val="310466088"/>
                    </a:ext>
                  </a:extLst>
                </a:gridCol>
                <a:gridCol w="2946398">
                  <a:extLst>
                    <a:ext uri="{9D8B030D-6E8A-4147-A177-3AD203B41FA5}">
                      <a16:colId xmlns:a16="http://schemas.microsoft.com/office/drawing/2014/main" val="4116433447"/>
                    </a:ext>
                  </a:extLst>
                </a:gridCol>
              </a:tblGrid>
              <a:tr h="3292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MODEL / PAPER</a:t>
                      </a:r>
                      <a:endParaRPr lang="en-IN" sz="1300" dirty="0"/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APPROACH</a:t>
                      </a:r>
                      <a:endParaRPr lang="en-IN" sz="1300" dirty="0"/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RMSE</a:t>
                      </a:r>
                      <a:endParaRPr lang="en-IN" sz="1300" dirty="0"/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MAE</a:t>
                      </a:r>
                      <a:endParaRPr lang="en-IN" sz="1300" dirty="0"/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PRECISION@5</a:t>
                      </a:r>
                      <a:endParaRPr lang="en-IN" sz="1300" dirty="0"/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REMARKS</a:t>
                      </a:r>
                      <a:endParaRPr lang="en-IN" sz="1300" dirty="0"/>
                    </a:p>
                  </a:txBody>
                  <a:tcPr marL="64191" marR="64191" marT="32096" marB="32096" anchor="ctr"/>
                </a:tc>
                <a:extLst>
                  <a:ext uri="{0D108BD9-81ED-4DB2-BD59-A6C34878D82A}">
                    <a16:rowId xmlns:a16="http://schemas.microsoft.com/office/drawing/2014/main" val="4145157369"/>
                  </a:ext>
                </a:extLst>
              </a:tr>
              <a:tr h="1289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/>
                        <a:t>Our Hybrid Model (Matrix Factorization + TF-IDF + Rules)</a:t>
                      </a:r>
                      <a:endParaRPr lang="en-US" sz="1300" dirty="0"/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Hybrid Neuro-Symbolic</a:t>
                      </a:r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0" dirty="0"/>
                        <a:t>0.966</a:t>
                      </a:r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0" dirty="0"/>
                        <a:t>0.775</a:t>
                      </a:r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0" dirty="0"/>
                        <a:t>0.109</a:t>
                      </a:r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Balanced accuracy with interpretability</a:t>
                      </a:r>
                    </a:p>
                  </a:txBody>
                  <a:tcPr marL="64191" marR="64191" marT="32096" marB="32096" anchor="ctr"/>
                </a:tc>
                <a:extLst>
                  <a:ext uri="{0D108BD9-81ED-4DB2-BD59-A6C34878D82A}">
                    <a16:rowId xmlns:a16="http://schemas.microsoft.com/office/drawing/2014/main" val="4034938483"/>
                  </a:ext>
                </a:extLst>
              </a:tr>
              <a:tr h="104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IEEE Paper 1 – Neural CF + Sentiment (2022)</a:t>
                      </a:r>
                      <a:endParaRPr lang="en-IN" sz="1300" dirty="0"/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Deep Neural Collaborative Filtering</a:t>
                      </a:r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0.942</a:t>
                      </a:r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0.763</a:t>
                      </a:r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0.125</a:t>
                      </a:r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Strong emotional context but high computational cost</a:t>
                      </a:r>
                    </a:p>
                  </a:txBody>
                  <a:tcPr marL="64191" marR="64191" marT="32096" marB="32096" anchor="ctr"/>
                </a:tc>
                <a:extLst>
                  <a:ext uri="{0D108BD9-81ED-4DB2-BD59-A6C34878D82A}">
                    <a16:rowId xmlns:a16="http://schemas.microsoft.com/office/drawing/2014/main" val="2842540"/>
                  </a:ext>
                </a:extLst>
              </a:tr>
              <a:tr h="104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IEEE Paper 2 – ML Sentiment + Similarity (2021)</a:t>
                      </a:r>
                      <a:endParaRPr lang="en-IN" sz="1300"/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Logistic Regression + Cosine Similarity</a:t>
                      </a:r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1.018</a:t>
                      </a:r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0.812</a:t>
                      </a:r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0.094</a:t>
                      </a:r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Simpler but limited personalization</a:t>
                      </a:r>
                    </a:p>
                  </a:txBody>
                  <a:tcPr marL="64191" marR="64191" marT="32096" marB="32096" anchor="ctr"/>
                </a:tc>
                <a:extLst>
                  <a:ext uri="{0D108BD9-81ED-4DB2-BD59-A6C34878D82A}">
                    <a16:rowId xmlns:a16="http://schemas.microsoft.com/office/drawing/2014/main" val="115878166"/>
                  </a:ext>
                </a:extLst>
              </a:tr>
              <a:tr h="1324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/>
                        <a:t>IEEE Paper 3 – Graph-based Movie Recommender (2023)</a:t>
                      </a:r>
                      <a:endParaRPr lang="en-US" sz="1300" dirty="0"/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Graph Neural Network (GNN)</a:t>
                      </a:r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0.935</a:t>
                      </a:r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0.748</a:t>
                      </a:r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0.132</a:t>
                      </a:r>
                    </a:p>
                  </a:txBody>
                  <a:tcPr marL="64191" marR="64191" marT="32096" marB="32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Excellent context capture, needs larger datasets</a:t>
                      </a:r>
                    </a:p>
                  </a:txBody>
                  <a:tcPr marL="64191" marR="64191" marT="32096" marB="32096" anchor="ctr"/>
                </a:tc>
                <a:extLst>
                  <a:ext uri="{0D108BD9-81ED-4DB2-BD59-A6C34878D82A}">
                    <a16:rowId xmlns:a16="http://schemas.microsoft.com/office/drawing/2014/main" val="688898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1740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0A209-7F68-8A88-AF92-484F81D4F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7" descr="Data Points Digital background">
            <a:extLst>
              <a:ext uri="{FF2B5EF4-FFF2-40B4-BE49-F238E27FC236}">
                <a16:creationId xmlns:a16="http://schemas.microsoft.com/office/drawing/2014/main" id="{7AC9E3B9-4638-6D89-EE01-2112FAAFEB7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2B44F64-BB36-A272-F875-37AC9D267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7133" y="2023534"/>
            <a:ext cx="9609667" cy="3962399"/>
          </a:xfrm>
        </p:spPr>
        <p:txBody>
          <a:bodyPr/>
          <a:lstStyle/>
          <a:p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r>
              <a:rPr lang="en-US" sz="3600" dirty="0">
                <a:latin typeface="Bahnschrift SemiLight" panose="020B0502040204020203" pitchFamily="34" charset="0"/>
              </a:rPr>
              <a:t>Algorithm: Hybrid Movie Recommendation</a:t>
            </a:r>
            <a:br>
              <a:rPr lang="en-US" sz="3600" dirty="0">
                <a:latin typeface="Bahnschrift SemiLight" panose="020B0502040204020203" pitchFamily="34" charset="0"/>
              </a:rPr>
            </a:br>
            <a:br>
              <a:rPr lang="en-US" sz="3600" dirty="0">
                <a:latin typeface="Bahnschrift SemiLight" panose="020B0502040204020203" pitchFamily="34" charset="0"/>
              </a:rPr>
            </a:br>
            <a:r>
              <a:rPr lang="en-US" sz="3600" dirty="0">
                <a:latin typeface="Bahnschrift SemiLight" panose="020B0502040204020203" pitchFamily="34" charset="0"/>
              </a:rPr>
              <a:t> (Pseudo-code)</a:t>
            </a:r>
            <a:br>
              <a:rPr lang="en-US" dirty="0"/>
            </a:br>
            <a:br>
              <a:rPr lang="en-US" dirty="0"/>
            </a:br>
            <a:r>
              <a:rPr lang="en-IN" sz="3200" dirty="0"/>
              <a:t>\</a:t>
            </a: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794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90140-F8B6-AA96-9C15-5ADE8363A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6883A7-1556-B379-7A3F-23FB6D13C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Bahnschrift Light Condensed" panose="020B0502040204020203" pitchFamily="34" charset="0"/>
              </a:rPr>
              <a:t>ALGORITHM (PSEUDO – CODE)</a:t>
            </a:r>
            <a:br>
              <a:rPr lang="en-US" sz="3200" dirty="0">
                <a:latin typeface="Bahnschrift Light Condensed" panose="020B0502040204020203" pitchFamily="34" charset="0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514E5-0F2F-3276-A102-4F7BF966B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530" y="1479257"/>
            <a:ext cx="11090274" cy="4829468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IN" sz="3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Input:</a:t>
            </a:r>
          </a:p>
          <a:p>
            <a:pPr marL="0" indent="0" algn="just">
              <a:buNone/>
            </a:pPr>
            <a:r>
              <a:rPr lang="en-IN" sz="3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R = User–Movie Ratings Matrix</a:t>
            </a:r>
          </a:p>
          <a:p>
            <a:pPr marL="0" indent="0" algn="just">
              <a:buNone/>
            </a:pPr>
            <a:r>
              <a:rPr lang="en-IN" sz="3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M = Movie Metadata (Title, Genres)</a:t>
            </a:r>
          </a:p>
          <a:p>
            <a:pPr marL="0" indent="0" algn="just">
              <a:buNone/>
            </a:pPr>
            <a:r>
              <a:rPr lang="en-IN" sz="3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</a:t>
            </a:r>
            <a:r>
              <a:rPr lang="el-GR" sz="3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α = </a:t>
            </a:r>
            <a:r>
              <a:rPr lang="en-IN" sz="3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Weight parameter (0 ≤ </a:t>
            </a:r>
            <a:r>
              <a:rPr lang="el-GR" sz="3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α ≤ 1)</a:t>
            </a:r>
          </a:p>
          <a:p>
            <a:pPr marL="0" indent="0" algn="just">
              <a:buNone/>
            </a:pPr>
            <a:endParaRPr lang="el-GR" sz="38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buNone/>
            </a:pPr>
            <a:r>
              <a:rPr lang="en-IN" sz="3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Output:</a:t>
            </a:r>
          </a:p>
          <a:p>
            <a:pPr marL="0" indent="0" algn="just">
              <a:buNone/>
            </a:pPr>
            <a:r>
              <a:rPr lang="en-IN" sz="3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Top-N Recommended Movies for a User U</a:t>
            </a:r>
          </a:p>
          <a:p>
            <a:pPr marL="0" indent="0" algn="just">
              <a:buNone/>
            </a:pPr>
            <a:endParaRPr lang="en-IN" sz="2000" dirty="0"/>
          </a:p>
          <a:p>
            <a:pPr marL="0" indent="0" algn="just">
              <a:buNone/>
            </a:pP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9542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E89B9-102F-1B27-A35B-5387937B2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1703CE-2C72-AB51-0AD9-E582DCF19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Bahnschrift Light Condensed" panose="020B0502040204020203" pitchFamily="34" charset="0"/>
              </a:rPr>
              <a:t>ALGORITHM (PSEUDO – CODE)</a:t>
            </a:r>
            <a:br>
              <a:rPr lang="en-US" sz="3200" dirty="0">
                <a:latin typeface="Bahnschrift Light Condensed" panose="020B0502040204020203" pitchFamily="34" charset="0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9308A-3301-96FF-DE0B-E4AC50467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529" y="1479257"/>
            <a:ext cx="11344803" cy="5192476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IN" sz="3800" b="1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1</a:t>
            </a:r>
            <a:r>
              <a:rPr lang="en-IN" sz="5000" b="1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. Preprocessing:</a:t>
            </a:r>
          </a:p>
          <a:p>
            <a:pPr marL="0" indent="0" algn="just">
              <a:buNone/>
            </a:pPr>
            <a:r>
              <a:rPr lang="en-IN" sz="5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   Convert Genres text to TF-IDF vectors</a:t>
            </a:r>
          </a:p>
          <a:p>
            <a:pPr marL="0" indent="0" algn="just">
              <a:buNone/>
            </a:pPr>
            <a:r>
              <a:rPr lang="en-IN" sz="5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   Normalize rating values in R</a:t>
            </a:r>
          </a:p>
          <a:p>
            <a:pPr marL="0" indent="0" algn="just">
              <a:buNone/>
            </a:pPr>
            <a:r>
              <a:rPr lang="en-IN" sz="5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   Split data into Training and Test sets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50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buNone/>
            </a:pPr>
            <a:r>
              <a:rPr lang="en-IN" sz="5000" b="1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2. Train Collaborative Filtering Model:</a:t>
            </a:r>
          </a:p>
          <a:p>
            <a:pPr marL="0" indent="0" algn="just">
              <a:buNone/>
            </a:pPr>
            <a:r>
              <a:rPr lang="en-IN" sz="5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   L</a:t>
            </a:r>
            <a:r>
              <a:rPr lang="en-US" sz="5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earn user and movie latent factors</a:t>
            </a:r>
          </a:p>
          <a:p>
            <a:pPr marL="0" indent="0" algn="just">
              <a:buNone/>
            </a:pPr>
            <a:endParaRPr lang="en-US" sz="50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buNone/>
            </a:pP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8139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0B1F1-713E-E71D-0099-A990D1F13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2D9E8E8-DB1E-6DBF-A44B-FE77C4ED2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Bahnschrift Light Condensed" panose="020B0502040204020203" pitchFamily="34" charset="0"/>
              </a:rPr>
              <a:t>ALGORITHM (PSEUDO – CODE)</a:t>
            </a:r>
            <a:br>
              <a:rPr lang="en-US" sz="3200" dirty="0">
                <a:latin typeface="Bahnschrift Light Condensed" panose="020B0502040204020203" pitchFamily="34" charset="0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665B3-1945-B8AA-ECCB-6DB5EA35D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529" y="1479257"/>
            <a:ext cx="11344803" cy="5192476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IN" sz="3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3. Compute Content Similarity:</a:t>
            </a:r>
          </a:p>
          <a:p>
            <a:pPr marL="0" indent="0" algn="just">
              <a:buNone/>
            </a:pPr>
            <a:r>
              <a:rPr lang="en-IN" sz="3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   TF-IDF(movie) → </a:t>
            </a:r>
            <a:r>
              <a:rPr lang="en-IN" sz="3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CosineSimilarity</a:t>
            </a:r>
            <a:endParaRPr lang="en-IN" sz="38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buNone/>
            </a:pPr>
            <a:endParaRPr lang="en-IN" sz="38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buNone/>
            </a:pPr>
            <a:r>
              <a:rPr lang="en-IN" sz="3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4. Hybrid Score:</a:t>
            </a:r>
          </a:p>
          <a:p>
            <a:pPr marL="0" indent="0" algn="just">
              <a:buNone/>
            </a:pPr>
            <a:r>
              <a:rPr lang="en-IN" sz="3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   </a:t>
            </a:r>
            <a:r>
              <a:rPr lang="en-IN" sz="3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HybridScore</a:t>
            </a:r>
            <a:r>
              <a:rPr lang="en-IN" sz="3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= </a:t>
            </a:r>
            <a:r>
              <a:rPr lang="el-GR" sz="3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α * </a:t>
            </a:r>
            <a:r>
              <a:rPr lang="en-IN" sz="3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MF_Pred</a:t>
            </a:r>
            <a:r>
              <a:rPr lang="en-IN" sz="3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+ (1 - </a:t>
            </a:r>
            <a:r>
              <a:rPr lang="el-GR" sz="3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α) * </a:t>
            </a:r>
            <a:r>
              <a:rPr lang="en-IN" sz="3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Content_Sim</a:t>
            </a:r>
            <a:endParaRPr lang="en-IN" sz="38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buNone/>
            </a:pPr>
            <a:endParaRPr lang="en-IN" sz="38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buNone/>
            </a:pPr>
            <a:r>
              <a:rPr lang="en-IN" sz="3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5. Sort and Recommend Top-N movies</a:t>
            </a:r>
          </a:p>
          <a:p>
            <a:pPr marL="0" indent="0" algn="just">
              <a:buNone/>
            </a:pPr>
            <a:endParaRPr lang="en-US" sz="50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buNone/>
            </a:pP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1513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B228A-9267-079B-4EFB-9EB7C6591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449DD5-B351-B18C-69D0-B2AFE18A1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85619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Bahnschrift Light Condensed" panose="020B0502040204020203" pitchFamily="34" charset="0"/>
              </a:rPr>
              <a:t>PROGRAM WORKING SNIPPETS (CORE LOGIC)</a:t>
            </a:r>
            <a:br>
              <a:rPr lang="en-US" sz="3200" dirty="0">
                <a:latin typeface="Bahnschrift Light Condensed" panose="020B0502040204020203" pitchFamily="34" charset="0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BB22C-1051-397D-0B47-5EEBE1A8A8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1" y="1600200"/>
            <a:ext cx="5765271" cy="5079999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1. LOAD DATASET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80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buNone/>
            </a:pP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import pandas as pd</a:t>
            </a:r>
          </a:p>
          <a:p>
            <a:pPr marL="0" indent="0" algn="just">
              <a:buNone/>
            </a:pP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df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= 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pd.read_csv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("hybrid_dataset.csv")</a:t>
            </a:r>
          </a:p>
          <a:p>
            <a:pPr marL="0" indent="0" algn="just">
              <a:buNone/>
            </a:pP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# Extract required columns</a:t>
            </a:r>
          </a:p>
          <a:p>
            <a:pPr marL="0" indent="0" algn="just">
              <a:buNone/>
            </a:pP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user_col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= "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UserID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"</a:t>
            </a:r>
          </a:p>
          <a:p>
            <a:pPr marL="0" indent="0" algn="just">
              <a:buNone/>
            </a:pP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movie_col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= "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MovieID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"</a:t>
            </a:r>
          </a:p>
          <a:p>
            <a:pPr marL="0" indent="0" algn="just">
              <a:buNone/>
            </a:pP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rating_col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= "Rating"</a:t>
            </a:r>
          </a:p>
          <a:p>
            <a:pPr marL="0" indent="0" algn="just">
              <a:buNone/>
            </a:pP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title_col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= "Title"</a:t>
            </a:r>
          </a:p>
          <a:p>
            <a:pPr marL="0" indent="0" algn="just">
              <a:buNone/>
            </a:pP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genre_col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= "Genres"</a:t>
            </a:r>
          </a:p>
          <a:p>
            <a:pPr marL="0" indent="0" algn="just">
              <a:buNone/>
            </a:pPr>
            <a:endParaRPr lang="en-US" sz="50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buNone/>
            </a:pPr>
            <a:r>
              <a:rPr lang="en-US" sz="2000" dirty="0"/>
              <a:t>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03D88B-3177-225E-3BFF-A78A55190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1600200"/>
            <a:ext cx="5435600" cy="48768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2. BUILD TEXT EMBEDDINGS (CONTENT-BASED FILTERING)</a:t>
            </a:r>
          </a:p>
          <a:p>
            <a:pPr marL="0" indent="0">
              <a:buNone/>
            </a:pPr>
            <a:endParaRPr lang="en-IN" sz="80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>
              <a:buNone/>
            </a:pP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from 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sklearn.feature_extraction.text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import 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TfidfVectorizer</a:t>
            </a:r>
            <a:endParaRPr lang="en-IN" sz="80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>
              <a:buNone/>
            </a:pP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df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["Text"] = 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df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[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title_col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].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astype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(str) + " " + 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df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[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genre_col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].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astype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(str)</a:t>
            </a:r>
          </a:p>
          <a:p>
            <a:pPr marL="0" indent="0">
              <a:buNone/>
            </a:pP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tfidf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= 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TfidfVectorizer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stop_words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="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english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")</a:t>
            </a:r>
          </a:p>
          <a:p>
            <a:pPr marL="0" indent="0">
              <a:buNone/>
            </a:pP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content_matrix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= 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tfidf.fit_transform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df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["Text"])</a:t>
            </a:r>
          </a:p>
          <a:p>
            <a:pPr marL="0" indent="0">
              <a:buNone/>
            </a:pPr>
            <a:endParaRPr lang="en-US" sz="7200" i="1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>
              <a:buNone/>
            </a:pPr>
            <a:r>
              <a:rPr lang="en-US" sz="7200" i="1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(TF-IDF converts titles + genres into numerical vectors that capture movie themes and similarity.)</a:t>
            </a:r>
            <a:endParaRPr lang="en-IN" sz="7200" i="1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276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EC5CC-78CF-D6E8-4FFD-202A98D38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EA266DA-CF23-002C-0875-C0A96CF27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85619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Bahnschrift Light Condensed" panose="020B0502040204020203" pitchFamily="34" charset="0"/>
              </a:rPr>
              <a:t>PROGRAM WORKING SNIPPETS (CORE LOGIC)</a:t>
            </a:r>
            <a:br>
              <a:rPr lang="en-US" sz="3200" dirty="0">
                <a:latin typeface="Bahnschrift Light Condensed" panose="020B0502040204020203" pitchFamily="34" charset="0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5BABC-BA78-00EC-2E1D-FBE1009FF0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1" y="1600200"/>
            <a:ext cx="5765271" cy="5079999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3. </a:t>
            </a:r>
            <a:r>
              <a:rPr lang="en-US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MATRIX FACTORIZATION (GENERATIVE PREFERENCE LEARNING)</a:t>
            </a:r>
            <a:endParaRPr lang="en-IN" sz="80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80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buNone/>
            </a:pP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user_ids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= 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df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[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user_col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].unique()</a:t>
            </a:r>
          </a:p>
          <a:p>
            <a:pPr marL="0" indent="0" algn="just">
              <a:buNone/>
            </a:pP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movie_ids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= 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df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[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movie_col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].unique()</a:t>
            </a:r>
          </a:p>
          <a:p>
            <a:pPr marL="0" indent="0" algn="just">
              <a:buNone/>
            </a:pP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uid2idx = {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u:i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for 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i,u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in enumerate(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user_ids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)}</a:t>
            </a:r>
          </a:p>
          <a:p>
            <a:pPr marL="0" indent="0" algn="just">
              <a:buNone/>
            </a:pP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mid2idx = {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m:i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for 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i,m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in enumerate(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movie_ids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)}</a:t>
            </a:r>
          </a:p>
          <a:p>
            <a:pPr marL="0" indent="0" algn="just">
              <a:buNone/>
            </a:pPr>
            <a:endParaRPr lang="en-IN" sz="80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buNone/>
            </a:pP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k = 24  # latent dimensions</a:t>
            </a:r>
          </a:p>
          <a:p>
            <a:pPr marL="0" indent="0" algn="just">
              <a:buNone/>
            </a:pP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P = 0.1 * 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np.random.randn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len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user_ids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), k)</a:t>
            </a:r>
          </a:p>
          <a:p>
            <a:pPr marL="0" indent="0" algn="just">
              <a:buNone/>
            </a:pP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Q = 0.1 * 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np.random.randn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len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movie_ids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), k)</a:t>
            </a:r>
          </a:p>
          <a:p>
            <a:pPr marL="0" indent="0" algn="just">
              <a:buNone/>
            </a:pPr>
            <a:r>
              <a:rPr lang="en-US" sz="2000" dirty="0"/>
              <a:t>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85B3E9-3625-6AB6-E98E-4F9954B94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1600200"/>
            <a:ext cx="5435600" cy="48768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sz="80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>
              <a:buNone/>
            </a:pP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mu = 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df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[</a:t>
            </a:r>
            <a:r>
              <a:rPr lang="en-IN" sz="8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rating_col</a:t>
            </a: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].mean()</a:t>
            </a:r>
          </a:p>
          <a:p>
            <a:pPr marL="0" indent="0">
              <a:buNone/>
            </a:pPr>
            <a:endParaRPr lang="en-IN" sz="80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>
              <a:buNone/>
            </a:pP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def predict(user, movie):</a:t>
            </a:r>
          </a:p>
          <a:p>
            <a:pPr marL="0" indent="0">
              <a:buNone/>
            </a:pP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u = uid2idx[user]</a:t>
            </a:r>
          </a:p>
          <a:p>
            <a:pPr marL="0" indent="0">
              <a:buNone/>
            </a:pP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m = mid2idx[movie]</a:t>
            </a:r>
          </a:p>
          <a:p>
            <a:pPr marL="0" indent="0">
              <a:buNone/>
            </a:pP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return mu + P[u] @ Q[m]</a:t>
            </a:r>
          </a:p>
          <a:p>
            <a:pPr marL="0" indent="0" algn="just">
              <a:buNone/>
            </a:pPr>
            <a:r>
              <a:rPr lang="en-IN" sz="7200" i="1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(</a:t>
            </a:r>
            <a:r>
              <a:rPr lang="en-US" sz="5600" i="1" dirty="0">
                <a:solidFill>
                  <a:schemeClr val="tx1"/>
                </a:solidFill>
              </a:rPr>
              <a:t>Learns latent taste vectors for users and movies → predicts ratings for unseen movies.)</a:t>
            </a:r>
            <a:endParaRPr lang="en-IN" sz="5600" i="1" dirty="0">
              <a:solidFill>
                <a:schemeClr val="tx1"/>
              </a:solidFill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9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C913E-A993-2DE8-435C-CD3E31FD9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82570D-CC23-D24B-69D9-7EC3234F3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85619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Bahnschrift Light Condensed" panose="020B0502040204020203" pitchFamily="34" charset="0"/>
              </a:rPr>
              <a:t>PROGRAM WORKING SNIPPETS (CORE LOGIC)</a:t>
            </a:r>
            <a:br>
              <a:rPr lang="en-US" sz="3200" dirty="0">
                <a:latin typeface="Bahnschrift Light Condensed" panose="020B0502040204020203" pitchFamily="34" charset="0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447BE-BA3B-4DC7-94AD-A87936A947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1" y="1600200"/>
            <a:ext cx="5765271" cy="5079999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r>
              <a:rPr lang="en-IN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4. </a:t>
            </a:r>
            <a:r>
              <a:rPr lang="en-US" sz="8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GRAPH LEARNING (USER–MOVIE NETWORK SIMILARITY)</a:t>
            </a:r>
            <a:endParaRPr lang="en-IN" sz="80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IN" sz="80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buNone/>
            </a:pP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from collections import </a:t>
            </a:r>
            <a:r>
              <a:rPr lang="en-IN" sz="7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defaultdict</a:t>
            </a:r>
            <a:endParaRPr lang="en-IN" sz="72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buNone/>
            </a:pP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user2items = </a:t>
            </a:r>
            <a:r>
              <a:rPr lang="en-IN" sz="7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defaultdict</a:t>
            </a: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(set)</a:t>
            </a:r>
          </a:p>
          <a:p>
            <a:pPr marL="0" indent="0" algn="just">
              <a:buNone/>
            </a:pP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item2users = </a:t>
            </a:r>
            <a:r>
              <a:rPr lang="en-IN" sz="7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defaultdict</a:t>
            </a: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(set)</a:t>
            </a:r>
          </a:p>
          <a:p>
            <a:pPr marL="0" indent="0" algn="just">
              <a:buNone/>
            </a:pPr>
            <a:endParaRPr lang="en-IN" sz="72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buNone/>
            </a:pP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for _, r in </a:t>
            </a:r>
            <a:r>
              <a:rPr lang="en-IN" sz="7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df.iterrows</a:t>
            </a: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():</a:t>
            </a:r>
          </a:p>
          <a:p>
            <a:pPr marL="0" indent="0" algn="just">
              <a:buNone/>
            </a:pP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user2items[r[</a:t>
            </a:r>
            <a:r>
              <a:rPr lang="en-IN" sz="7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user_col</a:t>
            </a: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]].add(r[</a:t>
            </a:r>
            <a:r>
              <a:rPr lang="en-IN" sz="7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movie_col</a:t>
            </a: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])</a:t>
            </a:r>
          </a:p>
          <a:p>
            <a:pPr marL="0" indent="0" algn="just">
              <a:buNone/>
            </a:pP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item2users[r[</a:t>
            </a:r>
            <a:r>
              <a:rPr lang="en-IN" sz="7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movie_col</a:t>
            </a: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]].add(r[</a:t>
            </a:r>
            <a:r>
              <a:rPr lang="en-IN" sz="7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user_col</a:t>
            </a: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])</a:t>
            </a:r>
          </a:p>
          <a:p>
            <a:pPr marL="0" indent="0" algn="just">
              <a:buNone/>
            </a:pPr>
            <a:r>
              <a:rPr lang="en-US" sz="2000" dirty="0"/>
              <a:t>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2EA850-4B7F-1DB7-8E60-5F553702E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7" y="1820332"/>
            <a:ext cx="5435600" cy="48768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sz="80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>
              <a:buNone/>
            </a:pP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def </a:t>
            </a:r>
            <a:r>
              <a:rPr lang="en-IN" sz="7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graph_score</a:t>
            </a: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(candidate, </a:t>
            </a:r>
            <a:r>
              <a:rPr lang="en-IN" sz="7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liked_list</a:t>
            </a: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):</a:t>
            </a:r>
          </a:p>
          <a:p>
            <a:pPr marL="0" indent="0">
              <a:buNone/>
            </a:pP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sims = []</a:t>
            </a:r>
          </a:p>
          <a:p>
            <a:pPr marL="0" indent="0">
              <a:buNone/>
            </a:pP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for L in </a:t>
            </a:r>
            <a:r>
              <a:rPr lang="en-IN" sz="7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liked_list</a:t>
            </a: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:</a:t>
            </a:r>
          </a:p>
          <a:p>
            <a:pPr marL="0" indent="0">
              <a:buNone/>
            </a:pP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    inter = </a:t>
            </a:r>
            <a:r>
              <a:rPr lang="en-IN" sz="7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len</a:t>
            </a: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(item2users[candidate] &amp; item2users[L])</a:t>
            </a:r>
          </a:p>
          <a:p>
            <a:pPr marL="0" indent="0">
              <a:buNone/>
            </a:pP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    union = </a:t>
            </a:r>
            <a:r>
              <a:rPr lang="en-IN" sz="7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len</a:t>
            </a: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(item2users[candidate] | item2users[L])</a:t>
            </a:r>
          </a:p>
          <a:p>
            <a:pPr marL="0" indent="0">
              <a:buNone/>
            </a:pP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    </a:t>
            </a:r>
            <a:r>
              <a:rPr lang="en-IN" sz="7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sims.append</a:t>
            </a: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(inter/union if union else 0)</a:t>
            </a:r>
          </a:p>
          <a:p>
            <a:pPr marL="0" indent="0">
              <a:buNone/>
            </a:pP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return </a:t>
            </a:r>
            <a:r>
              <a:rPr lang="en-IN" sz="72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np.mean</a:t>
            </a:r>
            <a:r>
              <a:rPr lang="en-IN" sz="7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(sims) if sims else 0</a:t>
            </a:r>
          </a:p>
          <a:p>
            <a:pPr marL="0" indent="0">
              <a:buNone/>
            </a:pPr>
            <a:r>
              <a:rPr lang="en-US" sz="7200" i="1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(If users who watched movies you like also watched another movie, we recommend it.)</a:t>
            </a:r>
            <a:endParaRPr lang="en-IN" sz="7200" i="1" dirty="0">
              <a:solidFill>
                <a:schemeClr val="tx1"/>
              </a:solidFill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048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0D40E-B168-DF6D-98C5-E92DE88A7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46DF5CE-51A1-16CD-6652-F75BFFBE9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85619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Bahnschrift Light Condensed" panose="020B0502040204020203" pitchFamily="34" charset="0"/>
              </a:rPr>
              <a:t>PROGRAM WORKING SNIPPETS (CORE LOGIC)</a:t>
            </a:r>
            <a:br>
              <a:rPr lang="en-US" sz="3200" dirty="0">
                <a:latin typeface="Bahnschrift Light Condensed" panose="020B0502040204020203" pitchFamily="34" charset="0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A52D3-43CB-C72E-B8B7-7B100F43D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1600200"/>
            <a:ext cx="5257271" cy="5079999"/>
          </a:xfrm>
        </p:spPr>
        <p:txBody>
          <a:bodyPr>
            <a:normAutofit fontScale="40000" lnSpcReduction="20000"/>
          </a:bodyPr>
          <a:lstStyle/>
          <a:p>
            <a:pPr marL="0" indent="0" algn="just">
              <a:buNone/>
            </a:pP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5. NEURO-SYMBOLIC GENRE RULES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IN" sz="80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buNone/>
            </a:pP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def </a:t>
            </a:r>
            <a:r>
              <a:rPr lang="en-IN" sz="55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top_genres</a:t>
            </a: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(user):</a:t>
            </a:r>
          </a:p>
          <a:p>
            <a:pPr marL="0" indent="0" algn="just">
              <a:buNone/>
            </a:pP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liked = </a:t>
            </a:r>
            <a:r>
              <a:rPr lang="en-IN" sz="55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df</a:t>
            </a: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[</a:t>
            </a:r>
            <a:r>
              <a:rPr lang="en-IN" sz="55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df</a:t>
            </a: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[</a:t>
            </a:r>
            <a:r>
              <a:rPr lang="en-IN" sz="55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user_col</a:t>
            </a: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]==user].</a:t>
            </a:r>
            <a:r>
              <a:rPr lang="en-IN" sz="55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sort_values</a:t>
            </a: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</a:t>
            </a:r>
            <a:r>
              <a:rPr lang="en-IN" sz="55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rating_col</a:t>
            </a: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, ascending=False)</a:t>
            </a:r>
          </a:p>
          <a:p>
            <a:pPr marL="0" indent="0" algn="just">
              <a:buNone/>
            </a:pP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genres = "|".join(liked[</a:t>
            </a:r>
            <a:r>
              <a:rPr lang="en-IN" sz="55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genre_col</a:t>
            </a: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].</a:t>
            </a:r>
            <a:r>
              <a:rPr lang="en-IN" sz="55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astype</a:t>
            </a: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(str).</a:t>
            </a:r>
            <a:r>
              <a:rPr lang="en-IN" sz="55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tolist</a:t>
            </a: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())</a:t>
            </a:r>
          </a:p>
          <a:p>
            <a:pPr marL="0" indent="0" algn="just">
              <a:buNone/>
            </a:pP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</a:t>
            </a:r>
            <a:r>
              <a:rPr lang="en-IN" sz="55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freq</a:t>
            </a: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= </a:t>
            </a:r>
            <a:r>
              <a:rPr lang="en-IN" sz="55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pd.Series</a:t>
            </a: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</a:t>
            </a:r>
            <a:r>
              <a:rPr lang="en-IN" sz="55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genres.split</a:t>
            </a: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("|")).</a:t>
            </a:r>
            <a:r>
              <a:rPr lang="en-IN" sz="55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value_counts</a:t>
            </a: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()</a:t>
            </a:r>
          </a:p>
          <a:p>
            <a:pPr marL="0" indent="0" algn="just">
              <a:buNone/>
            </a:pP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return set(</a:t>
            </a:r>
            <a:r>
              <a:rPr lang="en-IN" sz="55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freq.head</a:t>
            </a:r>
            <a:r>
              <a:rPr lang="en-IN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(3).index)</a:t>
            </a:r>
          </a:p>
          <a:p>
            <a:pPr marL="0" indent="0" algn="just">
              <a:buNone/>
            </a:pPr>
            <a:r>
              <a:rPr lang="en-US" sz="2000" dirty="0"/>
              <a:t>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A032C5-F7AF-69BC-0787-486E3803A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7" y="1820332"/>
            <a:ext cx="5435600" cy="487680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IN" sz="80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>
              <a:buNone/>
            </a:pPr>
            <a:r>
              <a:rPr lang="en-US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def </a:t>
            </a:r>
            <a:r>
              <a:rPr lang="en-US" sz="55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rule_bonus</a:t>
            </a:r>
            <a:r>
              <a:rPr lang="en-US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(user, </a:t>
            </a:r>
            <a:r>
              <a:rPr lang="en-US" sz="55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movie_genres</a:t>
            </a:r>
            <a:r>
              <a:rPr lang="en-US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):</a:t>
            </a:r>
          </a:p>
          <a:p>
            <a:pPr marL="0" indent="0">
              <a:buNone/>
            </a:pPr>
            <a:r>
              <a:rPr lang="en-US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return 0.2 if any(g in </a:t>
            </a:r>
            <a:r>
              <a:rPr lang="en-US" sz="55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top_genres</a:t>
            </a:r>
            <a:r>
              <a:rPr lang="en-US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(user) for g in </a:t>
            </a:r>
            <a:r>
              <a:rPr lang="en-US" sz="55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movie_genres.split</a:t>
            </a:r>
            <a:r>
              <a:rPr lang="en-US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("|")) else 0.0 </a:t>
            </a:r>
          </a:p>
          <a:p>
            <a:pPr marL="0" indent="0">
              <a:buNone/>
            </a:pPr>
            <a:r>
              <a:rPr lang="en-US" sz="55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(Boosts recommendations that match the user’s personal favorite genre cluster.)</a:t>
            </a:r>
          </a:p>
        </p:txBody>
      </p:sp>
    </p:spTree>
    <p:extLst>
      <p:ext uri="{BB962C8B-B14F-4D97-AF65-F5344CB8AC3E}">
        <p14:creationId xmlns:p14="http://schemas.microsoft.com/office/powerpoint/2010/main" val="267876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3B414-27BB-99B0-ADA5-059D78CAD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B2008ED-FEC4-C977-C12E-673F0370C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85619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Bahnschrift Light Condensed" panose="020B0502040204020203" pitchFamily="34" charset="0"/>
              </a:rPr>
              <a:t>PROGRAM WORKING SNIPPETS (CORE LOGIC)</a:t>
            </a:r>
            <a:br>
              <a:rPr lang="en-US" sz="3200" dirty="0">
                <a:latin typeface="Bahnschrift Light Condensed" panose="020B0502040204020203" pitchFamily="34" charset="0"/>
              </a:rPr>
            </a:br>
            <a:endParaRPr lang="en-IN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874CDC-AF60-6AB5-9472-7BCAF6E05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794" y="1557868"/>
            <a:ext cx="10946343" cy="4876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6. FINAL HYBRID RECOMMENDATION FORMULA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def </a:t>
            </a:r>
            <a:r>
              <a:rPr lang="en-IN" sz="1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hybrid_score</a:t>
            </a: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(user, movie):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gen = predict(user, movie)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text = </a:t>
            </a:r>
            <a:r>
              <a:rPr lang="en-IN" sz="1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content_matrix</a:t>
            </a:r>
            <a:endParaRPr lang="en-IN" sz="18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cs = </a:t>
            </a:r>
            <a:r>
              <a:rPr lang="en-IN" sz="1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content_matrix</a:t>
            </a: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[</a:t>
            </a:r>
            <a:r>
              <a:rPr lang="en-IN" sz="1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movieid_to_row</a:t>
            </a: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[movie]].dot(</a:t>
            </a:r>
            <a:r>
              <a:rPr lang="en-IN" sz="1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content_matrix</a:t>
            </a: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[</a:t>
            </a:r>
            <a:r>
              <a:rPr lang="en-IN" sz="1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like_rows</a:t>
            </a: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].T).mean()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</a:t>
            </a:r>
            <a:r>
              <a:rPr lang="en-IN" sz="1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gs</a:t>
            </a: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= </a:t>
            </a:r>
            <a:r>
              <a:rPr lang="en-IN" sz="1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graph_score</a:t>
            </a: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(movie, </a:t>
            </a:r>
            <a:r>
              <a:rPr lang="en-IN" sz="1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liked_movies</a:t>
            </a: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[user])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</a:t>
            </a:r>
            <a:r>
              <a:rPr lang="en-IN" sz="1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rb</a:t>
            </a: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= </a:t>
            </a:r>
            <a:r>
              <a:rPr lang="en-IN" sz="1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rule_bonus</a:t>
            </a: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(user, </a:t>
            </a:r>
            <a:r>
              <a:rPr lang="en-IN" sz="1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df.loc</a:t>
            </a: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[</a:t>
            </a:r>
            <a:r>
              <a:rPr lang="en-IN" sz="1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df</a:t>
            </a: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[</a:t>
            </a:r>
            <a:r>
              <a:rPr lang="en-IN" sz="1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movie_col</a:t>
            </a: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]==movie, </a:t>
            </a:r>
            <a:r>
              <a:rPr lang="en-IN" sz="1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genre_col</a:t>
            </a: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].</a:t>
            </a:r>
            <a:r>
              <a:rPr lang="en-IN" sz="1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iloc</a:t>
            </a: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[0])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return 0.6*gen + 0.25*(3+2*cs) + 0.15*(3+2*</a:t>
            </a:r>
            <a:r>
              <a:rPr lang="en-IN" sz="1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gs</a:t>
            </a:r>
            <a:r>
              <a:rPr lang="en-IN" sz="18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) + </a:t>
            </a:r>
            <a:r>
              <a:rPr lang="en-IN" sz="18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rb</a:t>
            </a:r>
            <a:endParaRPr lang="en-IN" sz="1800" i="1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933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B9119-01D9-0AF2-E369-58D3B291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2EFB5E-849D-27C5-B450-A7A1BC413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85619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Bahnschrift Light Condensed" panose="020B0502040204020203" pitchFamily="34" charset="0"/>
              </a:rPr>
              <a:t>PROGRAM WORKING SNIPPETS (CORE LOGIC)</a:t>
            </a:r>
            <a:br>
              <a:rPr lang="en-US" sz="3200" dirty="0">
                <a:latin typeface="Bahnschrift Light Condensed" panose="020B0502040204020203" pitchFamily="34" charset="0"/>
              </a:rPr>
            </a:br>
            <a:endParaRPr lang="en-IN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7C60F4-2AC2-C9F1-60DA-793FC4FA1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794" y="1557868"/>
            <a:ext cx="10946343" cy="4876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7. GENERATE RECOMMENDATIONS</a:t>
            </a:r>
          </a:p>
          <a:p>
            <a:pPr marL="0" indent="0">
              <a:buNone/>
            </a:pPr>
            <a:endParaRPr lang="en-IN" sz="2000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def recommend(user, n=10):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unseen = </a:t>
            </a:r>
            <a:r>
              <a:rPr lang="en-IN" sz="2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df</a:t>
            </a:r>
            <a:r>
              <a:rPr lang="en-IN" sz="2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[~</a:t>
            </a:r>
            <a:r>
              <a:rPr lang="en-IN" sz="2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df</a:t>
            </a:r>
            <a:r>
              <a:rPr lang="en-IN" sz="2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[</a:t>
            </a:r>
            <a:r>
              <a:rPr lang="en-IN" sz="2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movie_col</a:t>
            </a:r>
            <a:r>
              <a:rPr lang="en-IN" sz="2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].</a:t>
            </a:r>
            <a:r>
              <a:rPr lang="en-IN" sz="2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isin</a:t>
            </a:r>
            <a:r>
              <a:rPr lang="en-IN" sz="2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(user2items[user])]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unseen["score"] = unseen[</a:t>
            </a:r>
            <a:r>
              <a:rPr lang="en-IN" sz="2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movie_col</a:t>
            </a:r>
            <a:r>
              <a:rPr lang="en-IN" sz="2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].apply(lambda m: </a:t>
            </a:r>
            <a:r>
              <a:rPr lang="en-IN" sz="2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hybrid_score</a:t>
            </a:r>
            <a:r>
              <a:rPr lang="en-IN" sz="2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(user, m))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    return </a:t>
            </a:r>
            <a:r>
              <a:rPr lang="en-IN" sz="2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unseen.sort_values</a:t>
            </a:r>
            <a:r>
              <a:rPr lang="en-IN" sz="2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("score", ascending=False)[[</a:t>
            </a:r>
            <a:r>
              <a:rPr lang="en-IN" sz="2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movie_col</a:t>
            </a:r>
            <a:r>
              <a:rPr lang="en-IN" sz="2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, </a:t>
            </a:r>
            <a:r>
              <a:rPr lang="en-IN" sz="2000" dirty="0" err="1">
                <a:solidFill>
                  <a:srgbClr val="FFFFFF"/>
                </a:solidFill>
                <a:latin typeface="Bahnschrift Light Condensed" panose="020B0502040204020203" pitchFamily="34" charset="0"/>
              </a:rPr>
              <a:t>title_col</a:t>
            </a:r>
            <a:r>
              <a:rPr lang="en-IN" sz="20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, "score"]].head(n)</a:t>
            </a:r>
            <a:endParaRPr lang="en-IN" sz="2000" i="1" dirty="0">
              <a:solidFill>
                <a:srgbClr val="FFFFFF"/>
              </a:solidFill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00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27AD4-FC41-75A9-46C0-357115BC1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FB9EC-1689-370E-F98F-5AAB09EB6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FLOW CHART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pic>
        <p:nvPicPr>
          <p:cNvPr id="2052" name="Picture 4" descr="flowchart showing Hybrid_Dataset.csv flowing into three parallel modules—Collaborative Filtering (MF), Content-Based TF-IDF Embedding, and Graph-Based Similarity (Jaccard)—which merge into Neuro-Symbolic Genre Rules, then into Hybrid Score Fusion Layer (0.6*CF + 0.25*TFIDF + 0.15*Graph + Rule Bonus), leading to Top-N Movie Recommendation, with background matching the uploaded image and layout optimized for landscape PowerPoint slide">
            <a:extLst>
              <a:ext uri="{FF2B5EF4-FFF2-40B4-BE49-F238E27FC236}">
                <a16:creationId xmlns:a16="http://schemas.microsoft.com/office/drawing/2014/main" id="{D6FC19DD-7869-F4AE-8D4A-86EA8AED5F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534" y="1447800"/>
            <a:ext cx="8483600" cy="4995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799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477F9-2982-DB68-A40B-D44E3F1B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A0864-C6A9-5F88-207F-9A8A47D3A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OUTPUT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78EFDD-D921-1365-3753-4ED6E417F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37" y="1300675"/>
            <a:ext cx="11091601" cy="37547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F7F6E7-F973-E42C-9493-8F1422BB427D}"/>
              </a:ext>
            </a:extLst>
          </p:cNvPr>
          <p:cNvSpPr txBox="1"/>
          <p:nvPr/>
        </p:nvSpPr>
        <p:spPr>
          <a:xfrm>
            <a:off x="549537" y="5145154"/>
            <a:ext cx="101004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Bahnschrift Light Condensed" panose="020B0502040204020203" pitchFamily="34" charset="0"/>
              </a:rPr>
              <a:t>Our dataset already contains user ratings and movie metadata together, so it directly feeds into all three recommendation components: Collaborative Filtering, Content-Based TF-IDF similarity, and Graph Co-watch Similarity. Then a genre-based rule layer adjusts scores based on personal taste, and the Hybrid Score layer selects the Top-N movies.</a:t>
            </a:r>
            <a:endParaRPr lang="en-IN" sz="20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224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9A892-2831-761F-8B07-B211E5DAE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45A46-F599-C16A-EBFB-34BC997D8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OUTPUT EXPLANATION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AFED5-0F14-D21E-3B7C-223DDC3AD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8" y="1881275"/>
            <a:ext cx="11178681" cy="4623933"/>
          </a:xfrm>
        </p:spPr>
        <p:txBody>
          <a:bodyPr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Why “Vampires (1998)” was Recommended to User 1The system does not recommend movies based on who watched them, but based on shared taste patterns.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User 1 and User 53 rated several similar movies similarly, so the model considers their preferences aligned.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The Collaborative Filtering / Generative Model inferred that User 1 has a similar latent preference vector to User 53.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The Graph Score shows that viewers who watched movies User 1 likes also watched Vampires (1998).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Even with low content similarity, the collaborative and graph-based signals outweigh, making it a strong recommendation.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47042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4AC79-277E-B279-48F6-FC63C54B0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D2DA9-CB04-3D22-1081-096E51926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USER TASTE SIMILARITY VISUALIZATION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949C3E-2764-8F57-DAA2-EA22FFD08F87}"/>
              </a:ext>
            </a:extLst>
          </p:cNvPr>
          <p:cNvSpPr txBox="1"/>
          <p:nvPr/>
        </p:nvSpPr>
        <p:spPr>
          <a:xfrm>
            <a:off x="433923" y="1718131"/>
            <a:ext cx="11484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000" dirty="0">
              <a:latin typeface="Bahnschrift Light Condensed" panose="020B0502040204020203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IN" sz="2000" dirty="0">
              <a:latin typeface="Bahnschrift Light Condensed" panose="020B0502040204020203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B64AEC-6C3B-7FCB-2541-D954CCAAE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971600"/>
              </p:ext>
            </p:extLst>
          </p:nvPr>
        </p:nvGraphicFramePr>
        <p:xfrm>
          <a:off x="549538" y="1718131"/>
          <a:ext cx="10358876" cy="13208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866517">
                  <a:extLst>
                    <a:ext uri="{9D8B030D-6E8A-4147-A177-3AD203B41FA5}">
                      <a16:colId xmlns:a16="http://schemas.microsoft.com/office/drawing/2014/main" val="3040300600"/>
                    </a:ext>
                  </a:extLst>
                </a:gridCol>
                <a:gridCol w="2729597">
                  <a:extLst>
                    <a:ext uri="{9D8B030D-6E8A-4147-A177-3AD203B41FA5}">
                      <a16:colId xmlns:a16="http://schemas.microsoft.com/office/drawing/2014/main" val="3035078900"/>
                    </a:ext>
                  </a:extLst>
                </a:gridCol>
                <a:gridCol w="2735783">
                  <a:extLst>
                    <a:ext uri="{9D8B030D-6E8A-4147-A177-3AD203B41FA5}">
                      <a16:colId xmlns:a16="http://schemas.microsoft.com/office/drawing/2014/main" val="775309663"/>
                    </a:ext>
                  </a:extLst>
                </a:gridCol>
                <a:gridCol w="3026979">
                  <a:extLst>
                    <a:ext uri="{9D8B030D-6E8A-4147-A177-3AD203B41FA5}">
                      <a16:colId xmlns:a16="http://schemas.microsoft.com/office/drawing/2014/main" val="958422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High Rated Movies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Taste 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Outcome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65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Movie A, B, 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Prefers dark / dramatic themes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Similar to User 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859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User 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/>
                        <a:t>Movie A, B, D, </a:t>
                      </a:r>
                      <a:r>
                        <a:rPr lang="pt-BR" sz="1600" i="1"/>
                        <a:t>Vampires (1998)</a:t>
                      </a:r>
                      <a:endParaRPr lang="pt-BR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Same thematic taste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→ </a:t>
                      </a:r>
                      <a:r>
                        <a:rPr lang="en-US" sz="1600" i="1" dirty="0"/>
                        <a:t>Vampires (1998)</a:t>
                      </a:r>
                      <a:r>
                        <a:rPr lang="en-US" sz="1600" dirty="0"/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recommended to User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3972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1B9F492-9FA0-AA7D-347C-C6F58C46CF57}"/>
              </a:ext>
            </a:extLst>
          </p:cNvPr>
          <p:cNvSpPr txBox="1"/>
          <p:nvPr/>
        </p:nvSpPr>
        <p:spPr>
          <a:xfrm>
            <a:off x="830317" y="3634404"/>
            <a:ext cx="95959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Users who rate the same sets of movies highly are grouped into the same </a:t>
            </a:r>
            <a:r>
              <a:rPr lang="en-US" sz="2400" b="1" dirty="0"/>
              <a:t>latent preference cluster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The recommender shares movies within a cluster, which is why films from User 53's history appear as recommendations for User 1.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42810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0D5DF-D398-846B-E114-46E2EFC32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2EEFB-FD19-9DA4-C897-C269B603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CONCLUSION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9472-536A-9209-BBF8-B5704C6C4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Hybrid model improves recommendation accuracy and personalization.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Works efficiently with MovieLens dataset using metadata and ratings.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Future Work: Add sentiment, posters, and Graph Neural Networks for deeper modeling.</a:t>
            </a:r>
          </a:p>
        </p:txBody>
      </p:sp>
    </p:spTree>
    <p:extLst>
      <p:ext uri="{BB962C8B-B14F-4D97-AF65-F5344CB8AC3E}">
        <p14:creationId xmlns:p14="http://schemas.microsoft.com/office/powerpoint/2010/main" val="4023385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>
            <a:normAutofit/>
          </a:bodyPr>
          <a:lstStyle/>
          <a:p>
            <a:r>
              <a:rPr lang="en-US" dirty="0"/>
              <a:t>Thank you</a:t>
            </a:r>
          </a:p>
        </p:txBody>
      </p:sp>
      <p:pic>
        <p:nvPicPr>
          <p:cNvPr id="25" name="Picture Placeholder 24" descr="A close-up of a network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/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3DFloatVTI</Template>
  <TotalTime>3854</TotalTime>
  <Words>1904</Words>
  <Application>Microsoft Office PowerPoint</Application>
  <PresentationFormat>Widescreen</PresentationFormat>
  <Paragraphs>253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Bahnschrift Light Condensed</vt:lpstr>
      <vt:lpstr>Bahnschrift SemiLight</vt:lpstr>
      <vt:lpstr>Calibri</vt:lpstr>
      <vt:lpstr>Gill Sans MT</vt:lpstr>
      <vt:lpstr>Walbaum Display</vt:lpstr>
      <vt:lpstr>Wingdings</vt:lpstr>
      <vt:lpstr>3DFloatVTI</vt:lpstr>
      <vt:lpstr>  HYBRID NEURO - SYMBOLIC MOVIE RECOMMENDATION SYSTEM  VENKATARAMAN R  23MIA1025 SRISHREYAN S          23MIA1088 </vt:lpstr>
      <vt:lpstr>INTRODUCTION </vt:lpstr>
      <vt:lpstr>DATASET DESCRIPTION </vt:lpstr>
      <vt:lpstr>SYSTEM ARCHITECTURE </vt:lpstr>
      <vt:lpstr>COLLABORATIVE FILTERING (MATRIX FACTORIZATION) </vt:lpstr>
      <vt:lpstr>CONTENT-BASED SIMILARITY </vt:lpstr>
      <vt:lpstr>HYBRID RECOMMENDATION ALGORITHM </vt:lpstr>
      <vt:lpstr>MODEL OUTPUT EXAMPLE </vt:lpstr>
      <vt:lpstr>COMPARISON WITH IEEE PAPERS </vt:lpstr>
      <vt:lpstr>ACCURACY COMPARISON </vt:lpstr>
      <vt:lpstr>    Algorithm: Hybrid Movie Recommendation   (Pseudo-code)  \ </vt:lpstr>
      <vt:lpstr>ALGORITHM (PSEUDO – CODE) </vt:lpstr>
      <vt:lpstr>ALGORITHM (PSEUDO – CODE) </vt:lpstr>
      <vt:lpstr>ALGORITHM (PSEUDO – CODE) </vt:lpstr>
      <vt:lpstr>PROGRAM WORKING SNIPPETS (CORE LOGIC) </vt:lpstr>
      <vt:lpstr>PROGRAM WORKING SNIPPETS (CORE LOGIC) </vt:lpstr>
      <vt:lpstr>PROGRAM WORKING SNIPPETS (CORE LOGIC) </vt:lpstr>
      <vt:lpstr>PROGRAM WORKING SNIPPETS (CORE LOGIC) </vt:lpstr>
      <vt:lpstr>PROGRAM WORKING SNIPPETS (CORE LOGIC) </vt:lpstr>
      <vt:lpstr>PROGRAM WORKING SNIPPETS (CORE LOGIC) </vt:lpstr>
      <vt:lpstr>FLOW CHART </vt:lpstr>
      <vt:lpstr>OUTPUT </vt:lpstr>
      <vt:lpstr>OUTPUT EXPLANATION </vt:lpstr>
      <vt:lpstr>USER TASTE SIMILARITY VISUALIZATION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>Venkat Raman</dc:creator>
  <cp:lastModifiedBy>Vidhyalakshmi J</cp:lastModifiedBy>
  <cp:revision>21</cp:revision>
  <dcterms:created xsi:type="dcterms:W3CDTF">2023-12-19T21:03:45Z</dcterms:created>
  <dcterms:modified xsi:type="dcterms:W3CDTF">2025-11-12T04:50:37Z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